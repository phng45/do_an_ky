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7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SINH VIÊN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58368" y="1389888"/>
            <a:ext cx="65379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cần thực hiện</a:t>
            </a: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4944" y="34564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6B7280"/>
                </a:solidFill>
              </a:rPr>
              <a:t>Dùng cho học phần Đồ án – Project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7726680" y="914400"/>
            <a:ext cx="1417320" cy="1005840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26680" y="1993392"/>
            <a:ext cx="1417320" cy="566928"/>
          </a:xfrm>
          <a:prstGeom prst="rect">
            <a:avLst/>
          </a:prstGeom>
          <a:solidFill>
            <a:srgbClr val="EAF2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55B"/>
                </a:solidFill>
              </a:rPr>
              <a:t>Thiết kế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355B"/>
                </a:solidFill>
              </a:rPr>
              <a:t>giải pháp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914400"/>
            <a:ext cx="1417320" cy="100584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26880" y="1993392"/>
            <a:ext cx="1417320" cy="566928"/>
          </a:xfrm>
          <a:prstGeom prst="rect">
            <a:avLst/>
          </a:prstGeom>
          <a:solidFill>
            <a:srgbClr val="DFF6F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</a:rPr>
              <a:t>Thực hiện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</a:rPr>
              <a:t>tiến độ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26680" y="2971800"/>
            <a:ext cx="141732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26680" y="4050792"/>
            <a:ext cx="1417320" cy="566928"/>
          </a:xfrm>
          <a:prstGeom prst="rect">
            <a:avLst/>
          </a:prstGeom>
          <a:solidFill>
            <a:srgbClr val="FFF5D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Cải tiến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</a:rPr>
              <a:t>trách nhiệm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0" y="2971800"/>
            <a:ext cx="1417320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CLO4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26880" y="4050792"/>
            <a:ext cx="1417320" cy="566928"/>
          </a:xfrm>
          <a:prstGeom prst="rect">
            <a:avLst/>
          </a:prstGeom>
          <a:solidFill>
            <a:srgbClr val="F1E9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Tự học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phát triển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5257800"/>
            <a:ext cx="4434840" cy="45720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30% quá trình  +  70% báo cáo cuối kỳ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Sinh viên cần phải làm gì?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yêu cầu đồ án để sinh viên biết rõ sản phẩm cuối cùng cần nộp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520440" cy="182880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Xác định bài toán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Chọn đề tài, phạm vi, người dùng, dữ liệu đầu vào/đầu ra.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Mô tả yêu cầu nghiệp vụ, use case, quy tắc xử lý chính.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43400" y="1353312"/>
            <a:ext cx="3520440" cy="1828800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Thiết kế giải pháp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Thiết kế kiến trúc, CSDL, luồng xử lý, giao diện UI/UX.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Nêu rõ công nghệ sử dụng và lý do lựa chọn.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92440" y="1353312"/>
            <a:ext cx="3520440" cy="1828800"/>
          </a:xfrm>
          <a:prstGeom prst="rect">
            <a:avLst/>
          </a:prstGeom>
          <a:solidFill>
            <a:srgbClr val="EAF7EE"/>
          </a:solidFill>
          <a:ln>
            <a:solidFill>
              <a:srgbClr val="EAF7EE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Xây dựng sản phẩm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Lập trình các chức năng cốt lõi; kiểm tra dữ liệu nhập.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Tạo dữ liệu mẫu, tài khoản demo, hướng dẫn chạy.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74520" y="3886200"/>
            <a:ext cx="3931920" cy="1508760"/>
          </a:xfrm>
          <a:prstGeom prst="rect">
            <a:avLst/>
          </a:prstGeom>
          <a:solidFill>
            <a:srgbClr val="FFF5D7"/>
          </a:solidFill>
          <a:ln>
            <a:solidFill>
              <a:srgbClr val="FFF5D7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Báo cáo – demo – cải tiến</a:t>
            </a: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Viết báo cáo kỹ thuật, sơ đồ, hình ảnh minh chứng.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 sản phẩm; chỉ rõ điểm cải tiến và kế hoạch tự học.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3886200"/>
            <a:ext cx="3931920" cy="1508760"/>
          </a:xfrm>
          <a:prstGeom prst="rect">
            <a:avLst/>
          </a:prstGeom>
          <a:solidFill>
            <a:srgbClr val="F1E9FF"/>
          </a:solidFill>
          <a:ln>
            <a:solidFill>
              <a:srgbClr val="F1E9FF">
                <a:alpha val="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Minh chứng bắt buộc</a:t>
            </a:r>
            <a:endParaRPr lang="en-US" sz="1450" dirty="0"/>
          </a:p>
          <a:p>
            <a:pPr lvl="0"/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/>
              <a:t>Mã</a:t>
            </a:r>
            <a:r>
              <a:rPr lang="en-US" sz="1400" dirty="0"/>
              <a:t> </a:t>
            </a:r>
            <a:r>
              <a:rPr lang="en-US" sz="1400" dirty="0" err="1"/>
              <a:t>nguồn</a:t>
            </a:r>
            <a:r>
              <a:rPr lang="en-US" sz="1400" dirty="0"/>
              <a:t>/</a:t>
            </a:r>
            <a:r>
              <a:rPr lang="en-US" sz="1400" dirty="0" err="1"/>
              <a:t>sản</a:t>
            </a:r>
            <a:r>
              <a:rPr lang="en-US" sz="1400" dirty="0"/>
              <a:t> </a:t>
            </a:r>
            <a:r>
              <a:rPr lang="en-US" sz="1400" dirty="0" err="1"/>
              <a:t>phẩm</a:t>
            </a:r>
            <a:r>
              <a:rPr lang="en-US" sz="1400" dirty="0"/>
              <a:t>, CSDL, </a:t>
            </a:r>
            <a:r>
              <a:rPr lang="en-US" sz="1400" dirty="0" err="1"/>
              <a:t>nhật</a:t>
            </a:r>
            <a:r>
              <a:rPr lang="en-US" sz="1400" dirty="0"/>
              <a:t>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tiến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. </a:t>
            </a:r>
          </a:p>
          <a:p>
            <a:pPr lvl="0"/>
            <a:r>
              <a:rPr lang="en-US" sz="1400" dirty="0"/>
              <a:t>. Test case, </a:t>
            </a:r>
            <a:r>
              <a:rPr lang="en-US" sz="1400" dirty="0" err="1"/>
              <a:t>ảnh</a:t>
            </a:r>
            <a:r>
              <a:rPr lang="en-US" sz="1400" dirty="0"/>
              <a:t>/video </a:t>
            </a:r>
            <a:r>
              <a:rPr lang="en-US" sz="1400" dirty="0" err="1"/>
              <a:t>chạy</a:t>
            </a:r>
            <a:r>
              <a:rPr lang="en-US" sz="1400" dirty="0"/>
              <a:t> </a:t>
            </a:r>
            <a:r>
              <a:rPr lang="en-US" sz="1400" dirty="0" err="1"/>
              <a:t>sản</a:t>
            </a:r>
            <a:r>
              <a:rPr lang="en-US" sz="1400" dirty="0"/>
              <a:t> </a:t>
            </a:r>
            <a:r>
              <a:rPr lang="en-US" sz="1400" dirty="0" err="1"/>
              <a:t>phẩm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Quy trình thực hiện đồ án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theo checkpoint để đo được cả năng lực chuyên môn, tiến độ và trách nhiệm cá nhân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" y="1408176"/>
            <a:ext cx="1783080" cy="658368"/>
          </a:xfrm>
          <a:prstGeom prst="rect">
            <a:avLst/>
          </a:prstGeom>
          <a:solidFill>
            <a:srgbClr val="12355B"/>
          </a:solidFill>
          <a:ln>
            <a:solidFill>
              <a:srgbClr val="12355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Đăng ký đề tài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834640"/>
            <a:ext cx="1783080" cy="264261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Tên đề tài, mục tiêu, phạm vi, công nghệ dự kiến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51176" y="1408176"/>
            <a:ext cx="1783080" cy="658368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51176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Phân tích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51176" y="2834640"/>
            <a:ext cx="1783080" cy="2642616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Yêu cầu nghiệp vụ, use case, dữ liệu, ràng buộc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1408176"/>
            <a:ext cx="1783080" cy="658368"/>
          </a:xfrm>
          <a:prstGeom prst="rect">
            <a:avLst/>
          </a:prstGeom>
          <a:solidFill>
            <a:srgbClr val="12355B"/>
          </a:solidFill>
          <a:ln>
            <a:solidFill>
              <a:srgbClr val="12355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Thiết kế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1783080" cy="264261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Kiến trúc, CSDL, API/luồng xử lý, UI/UX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9944" y="1408176"/>
            <a:ext cx="1783080" cy="658368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9944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Triển khai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2834640"/>
            <a:ext cx="1783080" cy="2642616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Core features, validation, phân quyền, báo cáo/tìm kiếm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39328" y="1408176"/>
            <a:ext cx="1783080" cy="658368"/>
          </a:xfrm>
          <a:prstGeom prst="rect">
            <a:avLst/>
          </a:prstGeom>
          <a:solidFill>
            <a:srgbClr val="12355B"/>
          </a:solidFill>
          <a:ln>
            <a:solidFill>
              <a:srgbClr val="12355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39328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Kiểm thử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39328" y="2834640"/>
            <a:ext cx="1783080" cy="2642616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Test case, dữ liệu mẫu, sửa lỗi, tối ưu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68712" y="1408176"/>
            <a:ext cx="1783080" cy="658368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268712" y="2212848"/>
            <a:ext cx="1783080" cy="502920"/>
          </a:xfrm>
          <a:prstGeom prst="rect">
            <a:avLst/>
          </a:prstGeom>
          <a:solidFill>
            <a:srgbClr val="F7F8FA"/>
          </a:solidFill>
          <a:ln>
            <a:solidFill>
              <a:srgbClr val="F7F8F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Báo cáo &amp; demo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268712" y="2834640"/>
            <a:ext cx="1783080" cy="2642616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Báo cáo cuối kỳ, slide, demo live/video, hướng phát triển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5797296"/>
            <a:ext cx="10012680" cy="329184"/>
          </a:xfrm>
          <a:prstGeom prst="rect">
            <a:avLst/>
          </a:prstGeom>
          <a:solidFill>
            <a:srgbClr val="F0FDFA"/>
          </a:solidFill>
          <a:ln>
            <a:solidFill>
              <a:srgbClr val="F0FDF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7490"/>
                </a:solidFill>
              </a:rPr>
              <a:t>Gợi ý: mỗi checkpoint cần có minh chứng nộp </a:t>
            </a:r>
            <a:r>
              <a:rPr lang="en-US" sz="1320" b="1" dirty="0" err="1">
                <a:solidFill>
                  <a:srgbClr val="0E7490"/>
                </a:solidFill>
              </a:rPr>
              <a:t>trên</a:t>
            </a:r>
            <a:r>
              <a:rPr lang="en-US" sz="1320" b="1" dirty="0">
                <a:solidFill>
                  <a:srgbClr val="0E7490"/>
                </a:solidFill>
              </a:rPr>
              <a:t> Git để GVHD theo dõi tiến độ.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FCA3CB-158B-5FDF-138B-418518C18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9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Ánh xạ CLO → PI/PLO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CLO gắn với một năng lực lõi cần đo trong học phần Đồ án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400312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113544" y="1417320"/>
            <a:ext cx="5062667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năng lực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7176211" y="1417320"/>
            <a:ext cx="2692908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PI/PLO đo chính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869119" y="1417320"/>
            <a:ext cx="1615745" cy="71323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13232" y="2130552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113544" y="2130552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giải pháp phần mềm đáp ứng yêu cầu nghiệp vụ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176211" y="2130552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PI3.1 / PLO3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869119" y="2130552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A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13232" y="2843784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113544" y="2843784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nhiệm vụ đúng yêu cầu và tiến độ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176211" y="2843784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PI6.1 / PLO6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869119" y="2843784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13232" y="3557016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113544" y="3557016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trách nhiệm chuyên môn; đề xuất cải tiến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176211" y="3557016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PI9.2 / PLO9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69119" y="3557016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M, A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13232" y="4270248"/>
            <a:ext cx="1400312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CLO4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113544" y="4270248"/>
            <a:ext cx="5062667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kế hoạch tự học, phát triển năng lực cá nhân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176211" y="4270248"/>
            <a:ext cx="2692908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PI10.1 / PLO10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869119" y="4270248"/>
            <a:ext cx="1615745" cy="713232"/>
          </a:xfrm>
          <a:prstGeom prst="rect">
            <a:avLst/>
          </a:prstGeom>
          <a:solidFill>
            <a:srgbClr val="F7F8FA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M, A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mức: R = Reinforce/củng cố • M = Mastery/thành thạo • A = Assessment/đo đánh giá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Cấu trúc đánh giá học phần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2 nguồn điểm: quá trình thực hiện đồ án và báo cáo/sản phẩm cuối kỳ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2194560" cy="105156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30%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154680" y="1426464"/>
            <a:ext cx="8138160" cy="1051560"/>
          </a:xfrm>
          <a:prstGeom prst="rect">
            <a:avLst/>
          </a:prstGeom>
          <a:solidFill>
            <a:srgbClr val="DFF6FA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Quá trình thực hiện đồ án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Theo dõi tiến độ, chuyên môn, trách nhiệm trong suốt quá trình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94560" cy="1051560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70%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154680" y="2880360"/>
            <a:ext cx="8138160" cy="1051560"/>
          </a:xfrm>
          <a:prstGeom prst="rect">
            <a:avLst/>
          </a:prstGeom>
          <a:solidFill>
            <a:srgbClr val="EAF2FF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Báo cáo đồ án cuối kỳ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</a:rPr>
              <a:t>Báo cáo kỹ thuật, sản phẩm phần mềm, giải pháp cải tiến, kế hoạch tự học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754880"/>
            <a:ext cx="9921240" cy="594360"/>
          </a:xfrm>
          <a:prstGeom prst="rect">
            <a:avLst/>
          </a:prstGeom>
          <a:solidFill>
            <a:srgbClr val="FFF5D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Nguyên tắc: điểm tổng kết học phần vẫn theo thang 10; dữ liệu đo CLO/PI được tách theo trọng số tiêu chí.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Tách điểm đo theo CLO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này giúp nhập dữ liệu đo mức độ đạt CLO/PI rõ ràng, không chỉ dùng một điểm tổng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02206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điểm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650846" y="1417320"/>
            <a:ext cx="1659636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trọng HP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4310482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136081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961681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9787280" y="1417320"/>
            <a:ext cx="1825600" cy="749808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CLO4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48640" y="2167128"/>
            <a:ext cx="210220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trình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650846" y="2167128"/>
            <a:ext cx="165963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310482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9%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136081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9%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961681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→ 12%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787280" y="2167128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48640" y="2916936"/>
            <a:ext cx="210220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Cuối kỳ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650846" y="2916936"/>
            <a:ext cx="165963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310482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21%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136081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21%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961681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→ 14%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787280" y="2916936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→ 14%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8640" y="3666744"/>
            <a:ext cx="210220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đo CLO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650846" y="3666744"/>
            <a:ext cx="1659636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310482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136081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961681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787280" y="3666744"/>
            <a:ext cx="1825600" cy="749808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68680" y="4572000"/>
            <a:ext cx="2103120" cy="34747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Công thức gợi 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54680" y="4480560"/>
            <a:ext cx="7909560" cy="530352"/>
          </a:xfrm>
          <a:prstGeom prst="rect">
            <a:avLst/>
          </a:prstGeom>
          <a:solidFill>
            <a:srgbClr val="DFF6F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2355B"/>
                </a:solidFill>
              </a:rPr>
              <a:t>Điểm CLO = Σ (Điểm tiêu chí × Tỷ trọng nguồn điểm × Tỷ trọng CLO trong nguồn điểm)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78992" y="5376672"/>
            <a:ext cx="10058400" cy="502920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Nhập liệu: tạo 4 cột CLO1–CLO4 trong bảng điểm đo lường; mỗi cột quy đổi về thang 10 hoặc phần trăm theo quy định của khoa.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Rubric quá trình thực hiện đồ án – 30%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 theo dõi liên tục trong quá trình làm đồ án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429000" cy="32004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 – Năng lực thiết kế giải pháp (30%)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429000" cy="1490472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bài toán; thiết kế kiến trúc/CSDL; giải pháp khả thi và đáp ứng nghiệp vụ.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389120" y="1417320"/>
            <a:ext cx="3429000" cy="320040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889" tIns="889" rIns="889" bIns="889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 – Tiến độ và kết quả thực hiện (30%)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89120" y="1801368"/>
            <a:ext cx="3429000" cy="1490472"/>
          </a:xfrm>
          <a:prstGeom prst="rect">
            <a:avLst/>
          </a:prstGeom>
          <a:solidFill>
            <a:srgbClr val="DFF6FA"/>
          </a:solidFill>
          <a:ln>
            <a:solidFill>
              <a:srgbClr val="DFF6FA">
                <a:alpha val="0"/>
              </a:srgbClr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nhiệm vụ đúng hạn; chất lượng code/sản phẩm; phối hợp </a:t>
            </a:r>
            <a:r>
              <a:rPr lang="en-US" sz="122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</a:t>
            </a: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GVHD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092440" y="1417320"/>
            <a:ext cx="3429000" cy="320040"/>
          </a:xfrm>
          <a:prstGeom prst="rect">
            <a:avLst/>
          </a:prstGeom>
          <a:solidFill>
            <a:srgbClr val="FFF5D7"/>
          </a:solidFill>
          <a:ln>
            <a:solidFill>
              <a:srgbClr val="FFF5D7">
                <a:alpha val="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 – Trách nhiệm và cải tiến (40%)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92440" y="1801368"/>
            <a:ext cx="3429000" cy="1490472"/>
          </a:xfrm>
          <a:prstGeom prst="rect">
            <a:avLst/>
          </a:prstGeom>
          <a:solidFill>
            <a:srgbClr val="FFF5D7"/>
          </a:solidFill>
          <a:ln>
            <a:solidFill>
              <a:srgbClr val="FFF5D7">
                <a:alpha val="0"/>
              </a:srgbClr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động xử lý vấn đề; đề xuất cải tiến; thể hiện trách nhiệm chuyên môn cá nhân.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10378440" cy="749808"/>
          </a:xfrm>
          <a:prstGeom prst="rect">
            <a:avLst/>
          </a:prstGeom>
          <a:solidFill>
            <a:srgbClr val="EAF7EE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Minh </a:t>
            </a:r>
            <a:r>
              <a:rPr lang="en-US" sz="1700" b="1" dirty="0" err="1">
                <a:solidFill>
                  <a:srgbClr val="12355B"/>
                </a:solidFill>
              </a:rPr>
              <a:t>chứng</a:t>
            </a:r>
            <a:r>
              <a:rPr lang="en-US" sz="1700" b="1" dirty="0">
                <a:solidFill>
                  <a:srgbClr val="12355B"/>
                </a:solidFill>
              </a:rPr>
              <a:t> </a:t>
            </a:r>
            <a:r>
              <a:rPr lang="en-US" sz="1700" b="1" dirty="0" err="1">
                <a:solidFill>
                  <a:srgbClr val="12355B"/>
                </a:solidFill>
              </a:rPr>
              <a:t>thu</a:t>
            </a:r>
            <a:r>
              <a:rPr lang="en-US" sz="1700" b="1" dirty="0">
                <a:solidFill>
                  <a:srgbClr val="12355B"/>
                </a:solidFill>
              </a:rPr>
              <a:t>: nhật ký tiến độ, task list, commit Git, </a:t>
            </a:r>
            <a:r>
              <a:rPr lang="en-US" sz="1700" b="1" dirty="0" err="1">
                <a:solidFill>
                  <a:srgbClr val="12355B"/>
                </a:solidFill>
              </a:rPr>
              <a:t>bản</a:t>
            </a:r>
            <a:r>
              <a:rPr lang="en-US" sz="1700" b="1" dirty="0">
                <a:solidFill>
                  <a:srgbClr val="12355B"/>
                </a:solidFill>
              </a:rPr>
              <a:t> thiết kế cập nhật, phản hồi GVHD.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5349240"/>
            <a:ext cx="8366760" cy="43891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Điểm quá trình = CLO1×30% + CLO2×30% + CLO3×40%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Rubric báo cáo đồ án cuối kỳ – 70%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đồng/GV chấm sản phẩm cuối kỳ theo 4 nhóm tiêu chí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401568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3995928" y="1353312"/>
            <a:ext cx="1316736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312664" y="1353312"/>
            <a:ext cx="1316736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629400" y="1353312"/>
            <a:ext cx="4937760" cy="731520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cần nhìn thấy trong báo cáo/demo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&amp; trình bày báo cáo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995928" y="208483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CLO1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312664" y="208483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629400" y="208483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 cục, văn phong kỹ thuật, sơ đồ thiết kế, trích dẫn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phần mềm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995928" y="281635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CLO2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312664" y="281635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629400" y="281635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được, đủ tính năng cốt lõi, UX/UI, ổn định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cải tiến kỹ thuật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995928" y="354787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312664" y="354787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629400" y="354787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ưu, xử lý bài toán khó, cải tiến có căn cứ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94360" y="4279392"/>
            <a:ext cx="3401568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học tập &amp; phát triển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995928" y="427939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CLO4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312664" y="4279392"/>
            <a:ext cx="1316736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629400" y="4279392"/>
            <a:ext cx="4937760" cy="73152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học công nghệ, minh chứng áp dụng, định hướng cá nhân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508760" y="5440680"/>
            <a:ext cx="914400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Điểm cuối kỳ = CLO1×30% + CLO2×30% + CLO3×20% + CLO4×20%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6BE57-AC47-4BC6-B26B-9981D7A1D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2" y="0"/>
            <a:ext cx="8073102" cy="680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án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</a:t>
            </a: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viên trình bày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khi bảo vệ/demo đồ án cuối kỳ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621792" cy="62179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35331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Bài toán &amp; mục tiêu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1554480" y="170078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Nêu vấn đề, người dùng, phạm vi, dữ liệu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353312"/>
            <a:ext cx="621792" cy="62179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0" y="135331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Phân tích &amp; thiết kế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086600" y="170078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Use case, CSDL, kiến trúc, luồng xử lý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770632"/>
            <a:ext cx="621792" cy="62179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77063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Sản phẩm demo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1554480" y="311810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Chức năng chính, dữ liệu mẫu, kết quả chạy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2770632"/>
            <a:ext cx="621792" cy="62179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600" y="277063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Kiểm thử &amp; đánh giá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086600" y="311810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Test case, lỗi đã sửa, giới hạn hiện tại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187952"/>
            <a:ext cx="621792" cy="621792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18795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Cải tiến kỹ thuật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1554480" y="453542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Tối ưu, bảo mật, UX/UI, mở rộng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4187952"/>
            <a:ext cx="621792" cy="621792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4187952"/>
            <a:ext cx="4343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12355B"/>
                </a:solidFill>
              </a:rPr>
              <a:t>Tự học &amp; phát triển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7086600" y="4535424"/>
            <a:ext cx="4343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Công nghệ tự học, minh chứng, định hướng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Mẫu bảng điểm đo để nhập dữ liệu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đưa vào file Excel theo dõi điểm đo CLO/PI/PLO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D8DEE9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912010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SV/Nhóm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369210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QT-CLO1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3550158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QT-CLO2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731106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QT-CLO3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912053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CK-CLO1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7093001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CK-CLO2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273948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CK-CLO3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9454896" y="1353312"/>
            <a:ext cx="1180948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CK-CLO4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10635844" y="1353312"/>
            <a:ext cx="1068476" cy="667512"/>
          </a:xfrm>
          <a:prstGeom prst="rect">
            <a:avLst/>
          </a:prstGeom>
          <a:solidFill>
            <a:srgbClr val="12355B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HP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1912010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01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369210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50158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731106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912053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093001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273948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454896" y="2020824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635844" y="2020824"/>
            <a:ext cx="1068476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7200" y="2688336"/>
            <a:ext cx="1912010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02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369210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550158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731106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912053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093001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273948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454896" y="2688336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0635844" y="2688336"/>
            <a:ext cx="1068476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3355848"/>
            <a:ext cx="1912010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03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2369210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3550158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731106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912053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7093001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8273948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454896" y="3355848"/>
            <a:ext cx="1180948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10635844" y="3355848"/>
            <a:ext cx="1068476" cy="667512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68680" y="4434840"/>
            <a:ext cx="10469880" cy="420624"/>
          </a:xfrm>
          <a:prstGeom prst="rect">
            <a:avLst/>
          </a:prstGeom>
          <a:solidFill>
            <a:srgbClr val="EAF2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</a:rPr>
              <a:t>QT = Quá trình 30% • CK = Cuối kỳ 70% • Mỗi cột CLO giữ điểm thang 10 trước khi quy đổi trọng số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Không</a:t>
            </a:r>
            <a:r>
              <a:rPr lang="en-US" sz="1450" b="1" dirty="0">
                <a:solidFill>
                  <a:srgbClr val="FFFFFF"/>
                </a:solidFill>
              </a:rPr>
              <a:t> gộp toàn bộ rubric thành một điểm duy nhất; cần lưu điểm từng CLO để có dữ liệu cải tiến CTĐT.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966960" y="65653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Đồ án sinh viên •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1405</Words>
  <Application>Microsoft Office PowerPoint</Application>
  <PresentationFormat>Widescreen</PresentationFormat>
  <Paragraphs>233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Trường ĐH Phương Đông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sinh viên: nội dung, CLO, điểm đo</dc:title>
  <dc:subject>Nội dung đồ án, ánh xạ CLO và tách điểm đo</dc:subject>
  <dc:creator>OpenAI</dc:creator>
  <cp:lastModifiedBy>Lương Huy</cp:lastModifiedBy>
  <cp:revision>4</cp:revision>
  <dcterms:created xsi:type="dcterms:W3CDTF">2026-08-24T13:25:33Z</dcterms:created>
  <dcterms:modified xsi:type="dcterms:W3CDTF">2026-10-06T07:59:57Z</dcterms:modified>
</cp:coreProperties>
</file>